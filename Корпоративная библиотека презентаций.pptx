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Корпоративная библиотека презентаций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63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3D9F2"/>
                </a:solidFill>
                <a:latin typeface="Segoe UI"/>
              </a:defRPr>
            </a:pPr>
            <a:r>
              <a:t>MVP-прототип надстройки PowerPoint · интерактивная концепция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77639"/>
            <a:ext cx="3840480" cy="502920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965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Готово к пилотному внедрению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E5FF"/>
                </a:solidFill>
                <a:latin typeface="Segoe UI"/>
              </a:defRPr>
            </a:pPr>
            <a:r>
              <a:t>Централизованный доступ · Поиск · Просмотр · Вставка утверждённых слайдов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Метрики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E5FF"/>
                </a:solidFill>
                <a:latin typeface="Segoe UI"/>
              </a:defRPr>
            </a:pPr>
            <a:r>
              <a:t>Измеримые показатели для стейкхолдеров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48640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BA8"/>
                </a:solidFill>
                <a:latin typeface="Segoe UI"/>
              </a:defRPr>
            </a:pPr>
            <a:r>
              <a:t>DAU в надстройке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77A"/>
                </a:solidFill>
                <a:latin typeface="Segoe UI"/>
              </a:defRPr>
            </a:pPr>
            <a:r>
              <a:t>Активные пользователи/день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7A4A"/>
                </a:solidFill>
                <a:latin typeface="Segoe UI"/>
              </a:defRPr>
            </a:pPr>
            <a:r>
              <a:t>Цель: 60% пилотной группы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34440"/>
            <a:ext cx="548640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BA8"/>
                </a:solidFill>
                <a:latin typeface="Segoe UI"/>
              </a:defRPr>
            </a:pPr>
            <a:r>
              <a:t>Время до вставки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77A"/>
                </a:solidFill>
                <a:latin typeface="Segoe UI"/>
              </a:defRPr>
            </a:pPr>
            <a:r>
              <a:t>Поиск → вставка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7A4A"/>
                </a:solidFill>
                <a:latin typeface="Segoe UI"/>
              </a:defRPr>
            </a:pPr>
            <a:r>
              <a:t>Цель: &lt; 45 сек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49040"/>
            <a:ext cx="548640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77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BA8"/>
                </a:solidFill>
                <a:latin typeface="Segoe UI"/>
              </a:defRPr>
            </a:pPr>
            <a:r>
              <a:t>Доля утверждённого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77A"/>
                </a:solidFill>
                <a:latin typeface="Segoe UI"/>
              </a:defRPr>
            </a:pPr>
            <a:r>
              <a:t>Вставки из библиотеки vs локальные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83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7A4A"/>
                </a:solidFill>
                <a:latin typeface="Segoe UI"/>
              </a:defRPr>
            </a:pPr>
            <a:r>
              <a:t>Цель: &gt; 70%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749040"/>
            <a:ext cx="548640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977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BA8"/>
                </a:solidFill>
                <a:latin typeface="Segoe UI"/>
              </a:defRPr>
            </a:pPr>
            <a:r>
              <a:t>Актуальность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434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77A"/>
                </a:solidFill>
                <a:latin typeface="Segoe UI"/>
              </a:defRPr>
            </a:pPr>
            <a:r>
              <a:t>Слайды с просроченной версией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983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7A4A"/>
                </a:solidFill>
                <a:latin typeface="Segoe UI"/>
              </a:defRPr>
            </a:pPr>
            <a:r>
              <a:t>Цель: 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Слайд 10 · Метрики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Следующие шаги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8F4FC"/>
                </a:solidFill>
                <a:latin typeface="Segoe UI"/>
              </a:defRPr>
            </a:pPr>
            <a:r>
              <a:t>Утвердить состав пилотной группы и владельцев контента</a:t>
            </a:r>
          </a:p>
          <a:p>
            <a:pPr>
              <a:spcAft>
                <a:spcPts val="600"/>
              </a:spcAft>
              <a:defRPr sz="1600">
                <a:solidFill>
                  <a:srgbClr val="E8F4FC"/>
                </a:solidFill>
                <a:latin typeface="Segoe UI"/>
              </a:defRPr>
            </a:pPr>
            <a:r>
              <a:t>Финализировать манифест Office Add-in и хостинг панели</a:t>
            </a:r>
          </a:p>
          <a:p>
            <a:pPr>
              <a:spcAft>
                <a:spcPts val="600"/>
              </a:spcAft>
              <a:defRPr sz="1600">
                <a:solidFill>
                  <a:srgbClr val="E8F4FC"/>
                </a:solidFill>
                <a:latin typeface="Segoe UI"/>
              </a:defRPr>
            </a:pPr>
            <a:r>
              <a:t>Подключить корпоративное хранилище слайдов (SharePoint / custom API)</a:t>
            </a:r>
          </a:p>
          <a:p>
            <a:pPr>
              <a:spcAft>
                <a:spcPts val="600"/>
              </a:spcAft>
              <a:defRPr sz="1600">
                <a:solidFill>
                  <a:srgbClr val="E8F4FC"/>
                </a:solidFill>
                <a:latin typeface="Segoe UI"/>
              </a:defRPr>
            </a:pPr>
            <a:r>
              <a:t>Провести UX-тест прототипа с 5–8 ключевыми пользователями</a:t>
            </a:r>
          </a:p>
          <a:p>
            <a:pPr>
              <a:spcAft>
                <a:spcPts val="600"/>
              </a:spcAft>
              <a:defRPr sz="1600">
                <a:solidFill>
                  <a:srgbClr val="E8F4FC"/>
                </a:solidFill>
                <a:latin typeface="Segoe UI"/>
              </a:defRPr>
            </a:pPr>
            <a:r>
              <a:t>Запустить пилот на 8 недель с еженедельной отчётностью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Слайд 11 · Call to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Продуктовая ценность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E5FF"/>
                </a:solidFill>
                <a:latin typeface="Segoe UI"/>
              </a:defRPr>
            </a:pPr>
            <a:r>
              <a:t>Единый источник утверждённых материалов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F36"/>
                </a:solidFill>
                <a:latin typeface="Segoe UI"/>
              </a:defRPr>
            </a:pPr>
            <a:r>
              <a:t>Проблема: разрозненные файлы, устаревшие логотипы, несогласованный тон.</a:t>
            </a:r>
          </a:p>
          <a:p>
            <a:pPr>
              <a:spcAft>
                <a:spcPts val="600"/>
              </a:spcAft>
              <a:defRPr sz="1500">
                <a:solidFill>
                  <a:srgbClr val="1A1F36"/>
                </a:solidFill>
                <a:latin typeface="Segoe UI"/>
              </a:defRPr>
            </a:pPr>
            <a:r>
              <a:t>Решение: библиотека слайдов с версионированием и статусом «Утверждено».</a:t>
            </a:r>
          </a:p>
          <a:p>
            <a:pPr>
              <a:spcAft>
                <a:spcPts val="600"/>
              </a:spcAft>
              <a:defRPr sz="1500">
                <a:solidFill>
                  <a:srgbClr val="1A1F36"/>
                </a:solidFill>
                <a:latin typeface="Segoe UI"/>
              </a:defRPr>
            </a:pPr>
            <a:r>
              <a:t>Доступ из PowerPoint без переключения контекста — панель задач (Task Pane).</a:t>
            </a:r>
          </a:p>
          <a:p>
            <a:pPr>
              <a:spcAft>
                <a:spcPts val="600"/>
              </a:spcAft>
              <a:defRPr sz="1500">
                <a:solidFill>
                  <a:srgbClr val="1A1F36"/>
                </a:solidFill>
                <a:latin typeface="Segoe UI"/>
              </a:defRPr>
            </a:pPr>
            <a:r>
              <a:t>Контент-владельцы загружают пакеты; сотрудники только потребляют.</a:t>
            </a:r>
          </a:p>
          <a:p>
            <a:pPr>
              <a:spcAft>
                <a:spcPts val="600"/>
              </a:spcAft>
              <a:defRPr sz="1500">
                <a:solidFill>
                  <a:srgbClr val="1A1F36"/>
                </a:solidFill>
                <a:latin typeface="Segoe UI"/>
              </a:defRPr>
            </a:pPr>
            <a:r>
              <a:t>Сокращение времени сборки презентации на 40–60% (целевая метрика пилота).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417320"/>
            <a:ext cx="288036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1417320"/>
            <a:ext cx="2880360" cy="73152"/>
          </a:xfrm>
          <a:prstGeom prst="rect">
            <a:avLst/>
          </a:prstGeom>
          <a:solidFill>
            <a:srgbClr val="0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BA8"/>
                </a:solidFill>
                <a:latin typeface="Segoe UI"/>
              </a:defRPr>
            </a:pPr>
            <a:r>
              <a:t>Утверждённые слайды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77A"/>
                </a:solidFill>
                <a:latin typeface="Segoe UI"/>
              </a:defRPr>
            </a:pPr>
            <a:r>
              <a:t>Шаблоны разделов, титулы, KPI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1417320"/>
            <a:ext cx="288036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06840" y="1417320"/>
            <a:ext cx="2880360" cy="73152"/>
          </a:xfrm>
          <a:prstGeom prst="rect">
            <a:avLst/>
          </a:prstGeom>
          <a:solidFill>
            <a:srgbClr val="0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BA8"/>
                </a:solidFill>
                <a:latin typeface="Segoe UI"/>
              </a:defRPr>
            </a:pPr>
            <a:r>
              <a:t>Визуальные материалы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77A"/>
                </a:solidFill>
                <a:latin typeface="Segoe UI"/>
              </a:defRPr>
            </a:pPr>
            <a:r>
              <a:t>Иконки, диаграммы, фото бренда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566160"/>
            <a:ext cx="288036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3566160"/>
            <a:ext cx="2880360" cy="73152"/>
          </a:xfrm>
          <a:prstGeom prst="rect">
            <a:avLst/>
          </a:prstGeom>
          <a:solidFill>
            <a:srgbClr val="0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3794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BA8"/>
                </a:solidFill>
                <a:latin typeface="Segoe UI"/>
              </a:defRPr>
            </a:pPr>
            <a:r>
              <a:t>Метаданные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2519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77A"/>
                </a:solidFill>
                <a:latin typeface="Segoe UI"/>
              </a:defRPr>
            </a:pPr>
            <a:r>
              <a:t>Теги, отдел, язык, дата ревизии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3566160"/>
            <a:ext cx="288036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3566160"/>
            <a:ext cx="2880360" cy="73152"/>
          </a:xfrm>
          <a:prstGeom prst="rect">
            <a:avLst/>
          </a:prstGeom>
          <a:solidFill>
            <a:srgbClr val="0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3794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BA8"/>
                </a:solidFill>
                <a:latin typeface="Segoe UI"/>
              </a:defRPr>
            </a:pPr>
            <a:r>
              <a:t>Контроль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42519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77A"/>
                </a:solidFill>
                <a:latin typeface="Segoe UI"/>
              </a:defRPr>
            </a:pPr>
            <a:r>
              <a:t>RBAC, аудит вставок, отзыв версий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Слайд 2 · Концепция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Интеграция в PowerPoint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E5FF"/>
                </a:solidFill>
                <a:latin typeface="Segoe UI"/>
              </a:defRPr>
            </a:pPr>
            <a:r>
              <a:t>Надстройка Office (Office Add-in) — архитектура MVP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02920" cy="502920"/>
          </a:xfrm>
          <a:prstGeom prst="roundRect">
            <a:avLst/>
          </a:prstGeom>
          <a:solidFill>
            <a:srgbClr val="0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325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D73"/>
                </a:solidFill>
                <a:latin typeface="Segoe UI"/>
              </a:defRPr>
            </a:pPr>
            <a:r>
              <a:t>Ribbon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276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77A"/>
                </a:solidFill>
                <a:latin typeface="Segoe UI"/>
              </a:defRPr>
            </a:pPr>
            <a:r>
              <a:t>Вкладка «Библиотека» → открыть панель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783080"/>
            <a:ext cx="54864" cy="7315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502920" cy="502920"/>
          </a:xfrm>
          <a:prstGeom prst="roundRect">
            <a:avLst/>
          </a:prstGeom>
          <a:solidFill>
            <a:srgbClr val="0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6060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D73"/>
                </a:solidFill>
                <a:latin typeface="Segoe UI"/>
              </a:defRPr>
            </a:pPr>
            <a:r>
              <a:t>Task Pane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8620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77A"/>
                </a:solidFill>
                <a:latin typeface="Segoe UI"/>
              </a:defRPr>
            </a:pPr>
            <a:r>
              <a:t>HTML/JS UI внутри PowerPoint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3017520"/>
            <a:ext cx="54864" cy="7315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749040"/>
            <a:ext cx="502920" cy="502920"/>
          </a:xfrm>
          <a:prstGeom prst="roundRect">
            <a:avLst/>
          </a:prstGeom>
          <a:solidFill>
            <a:srgbClr val="0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840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794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D73"/>
                </a:solidFill>
                <a:latin typeface="Segoe UI"/>
              </a:defRPr>
            </a:pPr>
            <a:r>
              <a:t>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0965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77A"/>
                </a:solidFill>
                <a:latin typeface="Segoe UI"/>
              </a:defRPr>
            </a:pPr>
            <a:r>
              <a:t>Graph / корп. CMS слайдов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4251960"/>
            <a:ext cx="54864" cy="7315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4983480"/>
            <a:ext cx="502920" cy="502920"/>
          </a:xfrm>
          <a:prstGeom prst="roundRect">
            <a:avLst/>
          </a:prstGeom>
          <a:solidFill>
            <a:srgbClr val="0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0749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029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D73"/>
                </a:solidFill>
                <a:latin typeface="Segoe UI"/>
              </a:defRPr>
            </a:pPr>
            <a:r>
              <a:t>Insert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3309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77A"/>
                </a:solidFill>
                <a:latin typeface="Segoe UI"/>
              </a:defRPr>
            </a:pPr>
            <a:r>
              <a:t>Office.js — вставка слайда в активную deck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1051560"/>
            <a:ext cx="7818120" cy="525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1051560"/>
            <a:ext cx="7818120" cy="384048"/>
          </a:xfrm>
          <a:prstGeom prst="rect">
            <a:avLst/>
          </a:prstGeom>
          <a:solidFill>
            <a:srgbClr val="F0F0F0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11155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77A"/>
                </a:solidFill>
                <a:latin typeface="Segoe UI"/>
              </a:defRPr>
            </a:pPr>
            <a:r>
              <a:t>Моя презентация.pptx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1600200"/>
            <a:ext cx="7269480" cy="1234440"/>
          </a:xfrm>
          <a:prstGeom prst="rect">
            <a:avLst/>
          </a:prstGeom>
          <a:solidFill>
            <a:srgbClr val="F4F7FA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77A"/>
                </a:solidFill>
                <a:latin typeface="Segoe UI"/>
              </a:defRPr>
            </a:pPr>
            <a:r>
              <a:t>Слайд 1 — рабочая область презентации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017520"/>
            <a:ext cx="7269480" cy="1234440"/>
          </a:xfrm>
          <a:prstGeom prst="rect">
            <a:avLst/>
          </a:prstGeom>
          <a:solidFill>
            <a:srgbClr val="F4F7FA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3429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77A"/>
                </a:solidFill>
                <a:latin typeface="Segoe UI"/>
              </a:defRPr>
            </a:pPr>
            <a:r>
              <a:t>Слайд 2 — рабочая область презентации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434840"/>
            <a:ext cx="7269480" cy="1234440"/>
          </a:xfrm>
          <a:prstGeom prst="rect">
            <a:avLst/>
          </a:prstGeom>
          <a:solidFill>
            <a:srgbClr val="F4F7FA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846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77A"/>
                </a:solidFill>
                <a:latin typeface="Segoe UI"/>
              </a:defRPr>
            </a:pPr>
            <a:r>
              <a:t>Слайд 3 — рабочая область презентации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66760" y="1051560"/>
            <a:ext cx="3429000" cy="5257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66760" y="1051560"/>
            <a:ext cx="3429000" cy="50292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1143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Корп. библиотека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0" y="1170432"/>
            <a:ext cx="594360" cy="25603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18520" y="11887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MVP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157276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D73"/>
                </a:solidFill>
                <a:latin typeface="Segoe UI"/>
              </a:defRPr>
            </a:pPr>
            <a:r>
              <a:t>Каталог утверждённых материалов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03920" y="1920240"/>
            <a:ext cx="315468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19933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Поиск слайдов, тегов, отделов…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03920" y="2395728"/>
            <a:ext cx="694944" cy="256032"/>
          </a:xfrm>
          <a:prstGeom prst="roundRect">
            <a:avLst/>
          </a:prstGeom>
          <a:solidFill>
            <a:srgbClr val="E8F4FC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77072" y="2432304"/>
            <a:ext cx="6949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5BA8"/>
                </a:solidFill>
                <a:latin typeface="Segoe UI"/>
              </a:defRPr>
            </a:pPr>
            <a:r>
              <a:t>Все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72016" y="2395728"/>
            <a:ext cx="950976" cy="256032"/>
          </a:xfrm>
          <a:prstGeom prst="roundRect">
            <a:avLst/>
          </a:prstGeom>
          <a:solidFill>
            <a:srgbClr val="E8F4FC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45168" y="2432304"/>
            <a:ext cx="950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5BA8"/>
                </a:solidFill>
                <a:latin typeface="Segoe UI"/>
              </a:defRPr>
            </a:pPr>
            <a:r>
              <a:t>Продажи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96144" y="2395728"/>
            <a:ext cx="630936" cy="256032"/>
          </a:xfrm>
          <a:prstGeom prst="roundRect">
            <a:avLst/>
          </a:prstGeom>
          <a:solidFill>
            <a:srgbClr val="E8F4FC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69296" y="2432304"/>
            <a:ext cx="630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5BA8"/>
                </a:solidFill>
                <a:latin typeface="Segoe UI"/>
              </a:defRPr>
            </a:pPr>
            <a:r>
              <a:t>HR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03920" y="2788920"/>
            <a:ext cx="315468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2898648"/>
            <a:ext cx="502920" cy="43891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0" y="28803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F36"/>
                </a:solidFill>
                <a:latin typeface="Segoe UI"/>
              </a:defRPr>
            </a:pPr>
            <a:r>
              <a:t>Титульный слайд — бренд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313639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77A"/>
                </a:solidFill>
                <a:latin typeface="Segoe UI"/>
              </a:defRPr>
            </a:pPr>
            <a:r>
              <a:t>Утверждено · v3.2 · Маркетинг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03920" y="3520440"/>
            <a:ext cx="315468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622792" y="3630168"/>
            <a:ext cx="502920" cy="438912"/>
          </a:xfrm>
          <a:prstGeom prst="rect">
            <a:avLst/>
          </a:prstGeom>
          <a:solidFill>
            <a:srgbClr val="0D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5440" y="36118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F36"/>
                </a:solidFill>
                <a:latin typeface="Segoe UI"/>
              </a:defRPr>
            </a:pPr>
            <a:r>
              <a:t>KPI-квартал (диаграмма)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386791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77A"/>
                </a:solidFill>
                <a:latin typeface="Segoe UI"/>
              </a:defRPr>
            </a:pPr>
            <a:r>
              <a:t>Утверждено · v1.8 · Финансы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03920" y="4251960"/>
            <a:ext cx="315468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622792" y="4361688"/>
            <a:ext cx="502920" cy="43891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35440" y="43434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F36"/>
                </a:solidFill>
                <a:latin typeface="Segoe UI"/>
              </a:defRPr>
            </a:pPr>
            <a:r>
              <a:t>Команда / оргструктура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35440" y="459943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77A"/>
                </a:solidFill>
                <a:latin typeface="Segoe UI"/>
              </a:defRPr>
            </a:pPr>
            <a:r>
              <a:t>Утверждено · v2.0 · HR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503920" y="5806440"/>
            <a:ext cx="3154680" cy="347472"/>
          </a:xfrm>
          <a:prstGeom prst="roundRect">
            <a:avLst/>
          </a:prstGeom>
          <a:solidFill>
            <a:srgbClr val="0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3920" y="587959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Вставить выбранное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Слайд 3 · Встроенный интерфейс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Сценарий: Поиск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E5FF"/>
                </a:solidFill>
                <a:latin typeface="Segoe UI"/>
              </a:defRPr>
            </a:pPr>
            <a:r>
              <a:t>Быстрый доступ по названию, тегам и метаданным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7818120" cy="525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7818120" cy="384048"/>
          </a:xfrm>
          <a:prstGeom prst="rect">
            <a:avLst/>
          </a:prstGeom>
          <a:solidFill>
            <a:srgbClr val="F0F0F0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155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77A"/>
                </a:solidFill>
                <a:latin typeface="Segoe UI"/>
              </a:defRPr>
            </a:pPr>
            <a:r>
              <a:t>Презентация_Продажи_Q2.pptx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7269480" cy="1234440"/>
          </a:xfrm>
          <a:prstGeom prst="rect">
            <a:avLst/>
          </a:prstGeom>
          <a:solidFill>
            <a:srgbClr val="F4F7FA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77A"/>
                </a:solidFill>
                <a:latin typeface="Segoe UI"/>
              </a:defRPr>
            </a:pPr>
            <a:r>
              <a:t>Слайд 1 — рабочая область презентации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017520"/>
            <a:ext cx="7269480" cy="1234440"/>
          </a:xfrm>
          <a:prstGeom prst="rect">
            <a:avLst/>
          </a:prstGeom>
          <a:solidFill>
            <a:srgbClr val="F4F7FA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77A"/>
                </a:solidFill>
                <a:latin typeface="Segoe UI"/>
              </a:defRPr>
            </a:pPr>
            <a:r>
              <a:t>Слайд 2 — рабочая область презентации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434840"/>
            <a:ext cx="7269480" cy="1234440"/>
          </a:xfrm>
          <a:prstGeom prst="rect">
            <a:avLst/>
          </a:prstGeom>
          <a:solidFill>
            <a:srgbClr val="F4F7FA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846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77A"/>
                </a:solidFill>
                <a:latin typeface="Segoe UI"/>
              </a:defRPr>
            </a:pPr>
            <a:r>
              <a:t>Слайд 3 — рабочая область презентации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1051560"/>
            <a:ext cx="3429000" cy="5257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1051560"/>
            <a:ext cx="3429000" cy="50292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143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Корп. библиотека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0" y="1170432"/>
            <a:ext cx="594360" cy="25603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18520" y="11887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MVP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57276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D73"/>
                </a:solidFill>
                <a:latin typeface="Segoe UI"/>
              </a:defRPr>
            </a:pPr>
            <a:r>
              <a:t>Поиск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1920240"/>
            <a:ext cx="3154680" cy="384048"/>
          </a:xfrm>
          <a:prstGeom prst="roundRect">
            <a:avLst/>
          </a:prstGeom>
          <a:solidFill>
            <a:srgbClr val="E8F4FC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19933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5BA8"/>
                </a:solidFill>
                <a:latin typeface="Segoe UI"/>
              </a:defRPr>
            </a:pPr>
            <a:r>
              <a:t>диаграмма продажи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35915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77A"/>
                </a:solidFill>
                <a:latin typeface="Segoe UI"/>
              </a:defRPr>
            </a:pPr>
            <a:r>
              <a:t>12 результатов · 0.3 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2633472"/>
            <a:ext cx="1078992" cy="256032"/>
          </a:xfrm>
          <a:prstGeom prst="roundRect">
            <a:avLst/>
          </a:prstGeom>
          <a:solidFill>
            <a:srgbClr val="E8F4FC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77072" y="2670048"/>
            <a:ext cx="1078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5BA8"/>
                </a:solidFill>
                <a:latin typeface="Segoe UI"/>
              </a:defRPr>
            </a:pPr>
            <a:r>
              <a:t>диаграмма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56064" y="2633472"/>
            <a:ext cx="950976" cy="256032"/>
          </a:xfrm>
          <a:prstGeom prst="roundRect">
            <a:avLst/>
          </a:prstGeom>
          <a:solidFill>
            <a:srgbClr val="E8F4FC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29216" y="2670048"/>
            <a:ext cx="950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5BA8"/>
                </a:solidFill>
                <a:latin typeface="Segoe UI"/>
              </a:defRPr>
            </a:pPr>
            <a:r>
              <a:t>продажи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80192" y="2633472"/>
            <a:ext cx="630936" cy="256032"/>
          </a:xfrm>
          <a:prstGeom prst="roundRect">
            <a:avLst/>
          </a:prstGeom>
          <a:solidFill>
            <a:srgbClr val="E8F4FC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53344" y="2670048"/>
            <a:ext cx="630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5BA8"/>
                </a:solidFill>
                <a:latin typeface="Segoe UI"/>
              </a:defRPr>
            </a:pPr>
            <a:r>
              <a:t>Q2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0" y="2971800"/>
            <a:ext cx="3154680" cy="658368"/>
          </a:xfrm>
          <a:prstGeom prst="roundRect">
            <a:avLst/>
          </a:prstGeom>
          <a:solidFill>
            <a:srgbClr val="E8F4FC"/>
          </a:solidFill>
          <a:ln w="9525">
            <a:solidFill>
              <a:srgbClr val="0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622792" y="3081528"/>
            <a:ext cx="502920" cy="43891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30632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F36"/>
                </a:solidFill>
                <a:latin typeface="Segoe UI"/>
              </a:defRPr>
            </a:pPr>
            <a:r>
              <a:t>Воронка продаж B2B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31927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77A"/>
                </a:solidFill>
                <a:latin typeface="Segoe UI"/>
              </a:defRPr>
            </a:pPr>
            <a:r>
              <a:t>Утверждено · 4 слайда · Продажи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03920" y="3703320"/>
            <a:ext cx="315468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22792" y="3813048"/>
            <a:ext cx="502920" cy="43891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37947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F36"/>
                </a:solidFill>
                <a:latin typeface="Segoe UI"/>
              </a:defRPr>
            </a:pPr>
            <a:r>
              <a:t>Динамика выручки Q2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405079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77A"/>
                </a:solidFill>
                <a:latin typeface="Segoe UI"/>
              </a:defRPr>
            </a:pPr>
            <a:r>
              <a:t>Утверждено · 1 слайд · Финансы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3920" y="4434840"/>
            <a:ext cx="315468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22792" y="4544568"/>
            <a:ext cx="502920" cy="43891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45262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F36"/>
                </a:solidFill>
                <a:latin typeface="Segoe UI"/>
              </a:defRPr>
            </a:pPr>
            <a:r>
              <a:t>Сравнение сегментов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478231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77A"/>
                </a:solidFill>
                <a:latin typeface="Segoe UI"/>
              </a:defRPr>
            </a:pPr>
            <a:r>
              <a:t>Утверждено · 2 слайда · Аналитика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03920" y="5166360"/>
            <a:ext cx="3154680" cy="3474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523951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5BA8"/>
                </a:solidFill>
                <a:latin typeface="Segoe UI"/>
              </a:defRPr>
            </a:pPr>
            <a:r>
              <a:t>Предпросмотр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03920" y="5577840"/>
            <a:ext cx="3154680" cy="347472"/>
          </a:xfrm>
          <a:prstGeom prst="roundRect">
            <a:avLst/>
          </a:prstGeom>
          <a:solidFill>
            <a:srgbClr val="0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0" y="565099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Вставить в презентацию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77A"/>
                </a:solidFill>
                <a:latin typeface="Segoe UI"/>
              </a:defRPr>
            </a:pPr>
            <a:r>
              <a:t>Фильтры: отдел · статус · язык · период обновления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Слайд 4 · Пользовательский сценарий — Поиск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Сценарий: Просмотр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E5FF"/>
                </a:solidFill>
                <a:latin typeface="Segoe UI"/>
              </a:defRPr>
            </a:pPr>
            <a:r>
              <a:t>Превью с метаданными до вставки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7818120" cy="525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7818120" cy="384048"/>
          </a:xfrm>
          <a:prstGeom prst="rect">
            <a:avLst/>
          </a:prstGeom>
          <a:solidFill>
            <a:srgbClr val="F0F0F0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155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77A"/>
                </a:solidFill>
                <a:latin typeface="Segoe UI"/>
              </a:defRPr>
            </a:pPr>
            <a:r>
              <a:t>Моя презентация.pptx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7269480" cy="1234440"/>
          </a:xfrm>
          <a:prstGeom prst="rect">
            <a:avLst/>
          </a:prstGeom>
          <a:solidFill>
            <a:srgbClr val="F4F7FA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77A"/>
                </a:solidFill>
                <a:latin typeface="Segoe UI"/>
              </a:defRPr>
            </a:pPr>
            <a:r>
              <a:t>Слайд 1 — рабочая область презентации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017520"/>
            <a:ext cx="7269480" cy="1234440"/>
          </a:xfrm>
          <a:prstGeom prst="rect">
            <a:avLst/>
          </a:prstGeom>
          <a:solidFill>
            <a:srgbClr val="F4F7FA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77A"/>
                </a:solidFill>
                <a:latin typeface="Segoe UI"/>
              </a:defRPr>
            </a:pPr>
            <a:r>
              <a:t>Слайд 2 — рабочая область презентации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434840"/>
            <a:ext cx="7269480" cy="1234440"/>
          </a:xfrm>
          <a:prstGeom prst="rect">
            <a:avLst/>
          </a:prstGeom>
          <a:solidFill>
            <a:srgbClr val="F4F7FA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846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77A"/>
                </a:solidFill>
                <a:latin typeface="Segoe UI"/>
              </a:defRPr>
            </a:pPr>
            <a:r>
              <a:t>Слайд 3 — рабочая область презентации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1051560"/>
            <a:ext cx="3429000" cy="5257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1051560"/>
            <a:ext cx="3429000" cy="50292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143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Корп. библиотека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0" y="1170432"/>
            <a:ext cx="594360" cy="25603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18520" y="11887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MVP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57276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D73"/>
                </a:solidFill>
                <a:latin typeface="Segoe UI"/>
              </a:defRPr>
            </a:pPr>
            <a:r>
              <a:t>Просмотр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1920240"/>
            <a:ext cx="315468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19933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Воронка продаж B2B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2331720"/>
            <a:ext cx="3154680" cy="1874519"/>
          </a:xfrm>
          <a:prstGeom prst="roundRect">
            <a:avLst/>
          </a:prstGeom>
          <a:solidFill>
            <a:srgbClr val="F4F7FA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2880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77A"/>
                </a:solidFill>
                <a:latin typeface="Segoe UI"/>
              </a:defRPr>
            </a:pPr>
            <a:r>
              <a:t>[ Превью слайда 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2468880"/>
            <a:ext cx="2788920" cy="123444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9640" y="431596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77A"/>
                </a:solidFill>
                <a:latin typeface="Segoe UI"/>
              </a:defRPr>
            </a:pPr>
            <a:r>
              <a:t>Статус: Утверждено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4535424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77A"/>
                </a:solidFill>
                <a:latin typeface="Segoe UI"/>
              </a:defRPr>
            </a:pPr>
            <a:r>
              <a:t>Владелец: Департамент продаж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475488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77A"/>
                </a:solidFill>
                <a:latin typeface="Segoe UI"/>
              </a:defRPr>
            </a:pPr>
            <a:r>
              <a:t>Обновлено: 12.05.2026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97433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77A"/>
                </a:solidFill>
                <a:latin typeface="Segoe UI"/>
              </a:defRPr>
            </a:pPr>
            <a:r>
              <a:t>Слайдов в пакете: 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0" y="5440680"/>
            <a:ext cx="3154680" cy="3474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551383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5BA8"/>
                </a:solidFill>
                <a:latin typeface="Segoe UI"/>
              </a:defRPr>
            </a:pPr>
            <a:r>
              <a:t>← Назад к результатам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03920" y="5852160"/>
            <a:ext cx="3154680" cy="347472"/>
          </a:xfrm>
          <a:prstGeom prst="roundRect">
            <a:avLst/>
          </a:prstGeom>
          <a:solidFill>
            <a:srgbClr val="0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592531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Вставить все / выбранные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Слайд 5 · Пользовательский сценарий — Просмотр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Сценарий: Вставка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E5FF"/>
                </a:solidFill>
                <a:latin typeface="Segoe UI"/>
              </a:defRPr>
            </a:pPr>
            <a:r>
              <a:t>Слайд добавляется в активную презентацию одним действием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7818120" cy="525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7818120" cy="384048"/>
          </a:xfrm>
          <a:prstGeom prst="rect">
            <a:avLst/>
          </a:prstGeom>
          <a:solidFill>
            <a:srgbClr val="F0F0F0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155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77A"/>
                </a:solidFill>
                <a:latin typeface="Segoe UI"/>
              </a:defRPr>
            </a:pPr>
            <a:r>
              <a:t>Презентация_Продажи_Q2.pptx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7269480" cy="1234440"/>
          </a:xfrm>
          <a:prstGeom prst="rect">
            <a:avLst/>
          </a:prstGeom>
          <a:solidFill>
            <a:srgbClr val="F4F7FA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77A"/>
                </a:solidFill>
                <a:latin typeface="Segoe UI"/>
              </a:defRPr>
            </a:pPr>
            <a:r>
              <a:t>Слайд 1 — рабочая область презентации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017520"/>
            <a:ext cx="7269480" cy="1234440"/>
          </a:xfrm>
          <a:prstGeom prst="rect">
            <a:avLst/>
          </a:prstGeom>
          <a:solidFill>
            <a:srgbClr val="F4F7FA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77A"/>
                </a:solidFill>
                <a:latin typeface="Segoe UI"/>
              </a:defRPr>
            </a:pPr>
            <a:r>
              <a:t>Слайд 2 — рабочая область презентации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434840"/>
            <a:ext cx="7269480" cy="1234440"/>
          </a:xfrm>
          <a:prstGeom prst="rect">
            <a:avLst/>
          </a:prstGeom>
          <a:solidFill>
            <a:srgbClr val="F4F7FA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846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77A"/>
                </a:solidFill>
                <a:latin typeface="Segoe UI"/>
              </a:defRPr>
            </a:pPr>
            <a:r>
              <a:t>Слайд 3 — рабочая область презентации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7269480" cy="1234440"/>
          </a:xfrm>
          <a:prstGeom prst="roundRect">
            <a:avLst/>
          </a:prstGeom>
          <a:solidFill>
            <a:srgbClr val="E8F4FC"/>
          </a:solidFill>
          <a:ln w="9525">
            <a:solidFill>
              <a:srgbClr val="0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3434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7A4A"/>
                </a:solidFill>
                <a:latin typeface="Segoe UI"/>
              </a:defRPr>
            </a:pPr>
            <a:r>
              <a:t>✓ Вставлено: «Воронка продаж B2B» — слайд 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60" y="1051560"/>
            <a:ext cx="3429000" cy="5257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1051560"/>
            <a:ext cx="3429000" cy="50292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143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Корп. библиотека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0" y="1170432"/>
            <a:ext cx="594360" cy="25603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18520" y="11887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MVP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157276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D73"/>
                </a:solidFill>
                <a:latin typeface="Segoe UI"/>
              </a:defRPr>
            </a:pPr>
            <a:r>
              <a:t>Вставка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1920240"/>
            <a:ext cx="3154680" cy="1005840"/>
          </a:xfrm>
          <a:prstGeom prst="roundRect">
            <a:avLst/>
          </a:prstGeom>
          <a:solidFill>
            <a:srgbClr val="E8F8EF"/>
          </a:solidFill>
          <a:ln w="9525">
            <a:solidFill>
              <a:srgbClr val="0D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2057400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7A4A"/>
                </a:solidFill>
                <a:latin typeface="Segoe UI"/>
              </a:defRPr>
            </a:pPr>
            <a:r>
              <a:t>Успешно вставлено</a:t>
            </a:r>
            <a:br/>
            <a:r>
              <a:t>Запись в журнале аудита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06324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F36"/>
                </a:solidFill>
                <a:latin typeface="Segoe UI"/>
              </a:defRPr>
            </a:pPr>
            <a:r>
              <a:t>Параметры вставки: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352044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77A"/>
                </a:solidFill>
                <a:latin typeface="Segoe UI"/>
              </a:defRPr>
            </a:pPr>
            <a:r>
              <a:t>☑ После текущего слайда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758184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77A"/>
                </a:solidFill>
                <a:latin typeface="Segoe UI"/>
              </a:defRPr>
            </a:pPr>
            <a:r>
              <a:t>☑ Сохранить форматирование темы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399592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77A"/>
                </a:solidFill>
                <a:latin typeface="Segoe UI"/>
              </a:defRPr>
            </a:pPr>
            <a:r>
              <a:t>☑ Связать с источником (обновления)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4892040"/>
            <a:ext cx="3154680" cy="347472"/>
          </a:xfrm>
          <a:prstGeom prst="roundRect">
            <a:avLst/>
          </a:prstGeom>
          <a:solidFill>
            <a:srgbClr val="0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496519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Вставить ещё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5303520"/>
            <a:ext cx="3154680" cy="3474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537667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5BA8"/>
                </a:solidFill>
                <a:latin typeface="Segoe UI"/>
              </a:defRPr>
            </a:pPr>
            <a:r>
              <a:t>Закрыть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Слайд 6 · Пользовательский сценарий — Вставка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Каталог утверждённых материалов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E5FF"/>
                </a:solidFill>
                <a:latin typeface="Segoe UI"/>
              </a:defRPr>
            </a:pPr>
            <a:r>
              <a:t>Типы активов в корпоративной библиотеке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1556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91440" cy="868680"/>
          </a:xfrm>
          <a:prstGeom prst="rect">
            <a:avLst/>
          </a:prstGeom>
          <a:solidFill>
            <a:srgbClr val="0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52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F36"/>
                </a:solidFill>
                <a:latin typeface="Segoe UI"/>
              </a:defRPr>
            </a:pPr>
            <a:r>
              <a:t>Слайды-шаблоны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8191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77A"/>
                </a:solidFill>
                <a:latin typeface="Segoe UI"/>
              </a:defRPr>
            </a:pPr>
            <a:r>
              <a:t>Титулы, повестка, разделители, thank you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78440" y="1399032"/>
            <a:ext cx="868680" cy="347472"/>
          </a:xfrm>
          <a:prstGeom prst="roundRect">
            <a:avLst/>
          </a:prstGeom>
          <a:solidFill>
            <a:srgbClr val="E8F4FC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0" y="14447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5BA8"/>
                </a:solidFill>
                <a:latin typeface="Segoe UI"/>
              </a:defRPr>
            </a:pPr>
            <a:r>
              <a:t>124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94560"/>
            <a:ext cx="111556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94560"/>
            <a:ext cx="91440" cy="868680"/>
          </a:xfrm>
          <a:prstGeom prst="rect">
            <a:avLst/>
          </a:prstGeom>
          <a:solidFill>
            <a:srgbClr val="0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042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F36"/>
                </a:solidFill>
                <a:latin typeface="Segoe UI"/>
              </a:defRPr>
            </a:pPr>
            <a:r>
              <a:t>Диаграммы и данные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334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77A"/>
                </a:solidFill>
                <a:latin typeface="Segoe UI"/>
              </a:defRPr>
            </a:pPr>
            <a:r>
              <a:t>KPI, waterfall, funnel, timeline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78440" y="2450592"/>
            <a:ext cx="868680" cy="347472"/>
          </a:xfrm>
          <a:prstGeom prst="roundRect">
            <a:avLst/>
          </a:prstGeom>
          <a:solidFill>
            <a:srgbClr val="E8F4FC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0" y="249631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5BA8"/>
                </a:solidFill>
                <a:latin typeface="Segoe UI"/>
              </a:defRPr>
            </a:pPr>
            <a:r>
              <a:t>86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46120"/>
            <a:ext cx="111556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246120"/>
            <a:ext cx="91440" cy="868680"/>
          </a:xfrm>
          <a:prstGeom prst="rect">
            <a:avLst/>
          </a:prstGeom>
          <a:solidFill>
            <a:srgbClr val="0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3558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F36"/>
                </a:solidFill>
                <a:latin typeface="Segoe UI"/>
              </a:defRPr>
            </a:pPr>
            <a:r>
              <a:t>Визуальный бренд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85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77A"/>
                </a:solidFill>
                <a:latin typeface="Segoe UI"/>
              </a:defRPr>
            </a:pPr>
            <a:r>
              <a:t>Логотипы, паттерны, иконки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78440" y="3502152"/>
            <a:ext cx="868680" cy="347472"/>
          </a:xfrm>
          <a:prstGeom prst="roundRect">
            <a:avLst/>
          </a:prstGeom>
          <a:solidFill>
            <a:srgbClr val="E8F4FC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0" y="354787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5BA8"/>
                </a:solidFill>
                <a:latin typeface="Segoe UI"/>
              </a:defRPr>
            </a:pPr>
            <a:r>
              <a:t>210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297679"/>
            <a:ext cx="111556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297679"/>
            <a:ext cx="91440" cy="868680"/>
          </a:xfrm>
          <a:prstGeom prst="rect">
            <a:avLst/>
          </a:prstGeom>
          <a:solidFill>
            <a:srgbClr val="0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40740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F36"/>
                </a:solidFill>
                <a:latin typeface="Segoe UI"/>
              </a:defRPr>
            </a:pPr>
            <a:r>
              <a:t>Текстовые блоки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736591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77A"/>
                </a:solidFill>
                <a:latin typeface="Segoe UI"/>
              </a:defRPr>
            </a:pPr>
            <a:r>
              <a:t>Дисклеймеры, цитаты, compliance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78440" y="4553711"/>
            <a:ext cx="868680" cy="347472"/>
          </a:xfrm>
          <a:prstGeom prst="roundRect">
            <a:avLst/>
          </a:prstGeom>
          <a:solidFill>
            <a:srgbClr val="E8F4FC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60" y="4599431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5BA8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349240"/>
            <a:ext cx="111556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349240"/>
            <a:ext cx="91440" cy="868680"/>
          </a:xfrm>
          <a:prstGeom prst="rect">
            <a:avLst/>
          </a:prstGeom>
          <a:solidFill>
            <a:srgbClr val="0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4589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F36"/>
                </a:solidFill>
                <a:latin typeface="Segoe UI"/>
              </a:defRPr>
            </a:pPr>
            <a:r>
              <a:t>Локализации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7881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77A"/>
                </a:solidFill>
                <a:latin typeface="Segoe UI"/>
              </a:defRPr>
            </a:pPr>
            <a:r>
              <a:t>RU / EN / KZ наборы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78440" y="5605272"/>
            <a:ext cx="868680" cy="347472"/>
          </a:xfrm>
          <a:prstGeom prst="roundRect">
            <a:avLst/>
          </a:prstGeom>
          <a:solidFill>
            <a:srgbClr val="E8F4FC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60" y="565099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5BA8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Слайд 7 · Контент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Роли и централизованный доступ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E5FF"/>
                </a:solidFill>
                <a:latin typeface="Segoe UI"/>
              </a:defRPr>
            </a:pPr>
            <a:r>
              <a:t>RBAC и жизненный цикл публикации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352044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3520440" cy="502920"/>
          </a:xfrm>
          <a:prstGeom prst="rect">
            <a:avLst/>
          </a:prstGeom>
          <a:solidFill>
            <a:srgbClr val="0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Сотрудник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F36"/>
                </a:solidFill>
                <a:latin typeface="Segoe UI"/>
              </a:defRPr>
            </a:pPr>
            <a:r>
              <a:t>Поиск · просмотр · вставка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004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77A"/>
                </a:solidFill>
                <a:latin typeface="Segoe UI"/>
              </a:defRPr>
            </a:pPr>
            <a:r>
              <a:t>Только «Утверждено»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352044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520440" cy="502920"/>
          </a:xfrm>
          <a:prstGeom prst="rect">
            <a:avLst/>
          </a:prstGeom>
          <a:solidFill>
            <a:srgbClr val="0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Контент-менеджер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9659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F36"/>
                </a:solidFill>
                <a:latin typeface="Segoe UI"/>
              </a:defRPr>
            </a:pPr>
            <a:r>
              <a:t>Загрузка · теги · отправка на ревью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2004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77A"/>
                </a:solidFill>
                <a:latin typeface="Segoe UI"/>
              </a:defRPr>
            </a:pPr>
            <a:r>
              <a:t>Черновик → На согласовании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280160"/>
            <a:ext cx="352044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280160"/>
            <a:ext cx="3520440" cy="502920"/>
          </a:xfrm>
          <a:prstGeom prst="rect">
            <a:avLst/>
          </a:prstGeom>
          <a:solidFill>
            <a:srgbClr val="0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Администратор бренда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9659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F36"/>
                </a:solidFill>
                <a:latin typeface="Segoe UI"/>
              </a:defRPr>
            </a:pPr>
            <a:r>
              <a:t>Утверждение · отзыв · аудит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2004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77A"/>
                </a:solidFill>
                <a:latin typeface="Segoe UI"/>
              </a:defRPr>
            </a:pPr>
            <a:r>
              <a:t>Полный каталог + журнал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D73"/>
                </a:solidFill>
                <a:latin typeface="Segoe UI"/>
              </a:defRPr>
            </a:pPr>
            <a:r>
              <a:t>Интеграция: Azure AD / корп. SSO · единый вход из PowerPoint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Слайд 8 · Доступ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Пилотное внедрение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E5FF"/>
                </a:solidFill>
                <a:latin typeface="Segoe UI"/>
              </a:defRPr>
            </a:pPr>
            <a:r>
              <a:t>Дорожная карта MVP → пилот → масштабирование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1115568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BA8"/>
                </a:solidFill>
                <a:latin typeface="Segoe UI"/>
              </a:defRPr>
            </a:pPr>
            <a:r>
              <a:t>Недели 1–2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F36"/>
                </a:solidFill>
                <a:latin typeface="Segoe UI"/>
              </a:defRPr>
            </a:pPr>
            <a:r>
              <a:t>Настройка каталога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916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77A"/>
                </a:solidFill>
                <a:latin typeface="Segoe UI"/>
              </a:defRPr>
            </a:pPr>
            <a:r>
              <a:t>50 утверждённых слайдов, 3 отдела-пилота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68880"/>
            <a:ext cx="1115568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06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BA8"/>
                </a:solidFill>
                <a:latin typeface="Segoe UI"/>
              </a:defRPr>
            </a:pPr>
            <a:r>
              <a:t>Недели 3–4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606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F36"/>
                </a:solidFill>
                <a:latin typeface="Segoe UI"/>
              </a:defRPr>
            </a:pPr>
            <a:r>
              <a:t>Развёртывание add-in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971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77A"/>
                </a:solidFill>
                <a:latin typeface="Segoe UI"/>
              </a:defRPr>
            </a:pPr>
            <a:r>
              <a:t>Office 365, группа 30–50 пользователей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49040"/>
            <a:ext cx="1115568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86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BA8"/>
                </a:solidFill>
                <a:latin typeface="Segoe UI"/>
              </a:defRPr>
            </a:pPr>
            <a:r>
              <a:t>Недели 5–8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886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F36"/>
                </a:solidFill>
                <a:latin typeface="Segoe UI"/>
              </a:defRPr>
            </a:pPr>
            <a:r>
              <a:t>Сбор обратной связи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2519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77A"/>
                </a:solidFill>
                <a:latin typeface="Segoe UI"/>
              </a:defRPr>
            </a:pPr>
            <a:r>
              <a:t>Метрики, NPS, доработка UX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029199"/>
            <a:ext cx="1115568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1663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BA8"/>
                </a:solidFill>
                <a:latin typeface="Segoe UI"/>
              </a:defRPr>
            </a:pPr>
            <a:r>
              <a:t>Месяц 3+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51663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F36"/>
                </a:solidFill>
                <a:latin typeface="Segoe UI"/>
              </a:defRPr>
            </a:pPr>
            <a:r>
              <a:t>Масштаб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5532119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77A"/>
                </a:solidFill>
                <a:latin typeface="Segoe UI"/>
              </a:defRPr>
            </a:pPr>
            <a:r>
              <a:t>Все подразделения, интеграция CMS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Слайд 9 · Пилот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